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87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74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7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13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55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46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37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3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9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4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3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BF8F0-C11A-4777-B5B0-41B1766F2A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99A90-4874-45F4-9A7A-A5947B795F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36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危险域数据缺失与倍速增广法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滕怀远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341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， 什么是反馈控制？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47582" y="1417252"/>
                <a:ext cx="10515600" cy="27463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 smtClean="0"/>
                  <a:t>最简单的例子：  和面时， 面多了加水， 水多了加面</a:t>
                </a:r>
                <a:r>
                  <a:rPr lang="en-US" altLang="zh-CN" dirty="0" smtClean="0"/>
                  <a:t>.</a:t>
                </a: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一个自动驾驶相关的例子：对墙制动过程</a:t>
                </a:r>
                <a:r>
                  <a:rPr lang="en-US" altLang="zh-CN" dirty="0" smtClean="0"/>
                  <a:t>:  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时刹的比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轻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时刹的比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重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时刹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 </a:t>
                </a:r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7582" y="1417252"/>
                <a:ext cx="10515600" cy="2746376"/>
              </a:xfrm>
              <a:blipFill>
                <a:blip r:embed="rId2"/>
                <a:stretch>
                  <a:fillRect l="-870" t="-4435" b="-3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8016536" y="4163628"/>
            <a:ext cx="0" cy="1988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547892" y="4940424"/>
            <a:ext cx="905522" cy="435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ADV</a:t>
            </a:r>
            <a:endParaRPr lang="zh-CN" altLang="en-US" dirty="0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3453414" y="5157926"/>
            <a:ext cx="6303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16536" y="4163628"/>
            <a:ext cx="328474" cy="1988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墙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3453414" y="5557422"/>
            <a:ext cx="0" cy="426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453414" y="5770486"/>
            <a:ext cx="456312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133689" y="5388292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剩余距离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3482441" y="4666981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当前车速</a:t>
            </a:r>
            <a:r>
              <a:rPr lang="en-US" altLang="zh-CN" dirty="0"/>
              <a:t>v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647667" y="6152226"/>
                <a:ext cx="21235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 smtClean="0"/>
                  <a:t> 取</a:t>
                </a:r>
                <a:r>
                  <a:rPr lang="en-US" altLang="zh-CN" dirty="0" smtClean="0"/>
                  <a:t>1.5 </a:t>
                </a:r>
                <a:r>
                  <a:rPr lang="zh-CN" altLang="en-US" dirty="0" smtClean="0"/>
                  <a:t>差不多就行</a:t>
                </a:r>
                <a:endParaRPr lang="zh-CN" altLang="en-US" dirty="0"/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67" y="6152226"/>
                <a:ext cx="2123530" cy="369332"/>
              </a:xfrm>
              <a:prstGeom prst="rect">
                <a:avLst/>
              </a:prstGeom>
              <a:blipFill>
                <a:blip r:embed="rId3"/>
                <a:stretch>
                  <a:fillRect t="-8197" r="-2292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314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，模型制动行为取决于训练数据的行为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36847" y="2365900"/>
            <a:ext cx="905522" cy="435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ADV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4" idx="3"/>
          </p:cNvCxnSpPr>
          <p:nvPr/>
        </p:nvCxnSpPr>
        <p:spPr>
          <a:xfrm flipV="1">
            <a:off x="1642369" y="2583402"/>
            <a:ext cx="6303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205491" y="1589104"/>
            <a:ext cx="328474" cy="1988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墙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642369" y="2982898"/>
            <a:ext cx="0" cy="426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642369" y="3195962"/>
            <a:ext cx="456312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322644" y="2813768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剩余距离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71396" y="2092457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当前车速</a:t>
            </a:r>
            <a:r>
              <a:rPr lang="en-US" altLang="zh-CN" dirty="0"/>
              <a:t>v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433386"/>
              </p:ext>
            </p:extLst>
          </p:nvPr>
        </p:nvGraphicFramePr>
        <p:xfrm>
          <a:off x="1833238" y="4187589"/>
          <a:ext cx="812800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3892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2341879"/>
                    </a:ext>
                  </a:extLst>
                </a:gridCol>
                <a:gridCol w="1295481">
                  <a:extLst>
                    <a:ext uri="{9D8B030D-6E8A-4147-A177-3AD203B41FA5}">
                      <a16:colId xmlns:a16="http://schemas.microsoft.com/office/drawing/2014/main" val="84192529"/>
                    </a:ext>
                  </a:extLst>
                </a:gridCol>
                <a:gridCol w="1413853">
                  <a:extLst>
                    <a:ext uri="{9D8B030D-6E8A-4147-A177-3AD203B41FA5}">
                      <a16:colId xmlns:a16="http://schemas.microsoft.com/office/drawing/2014/main" val="2455330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23821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7911671"/>
                    </a:ext>
                  </a:extLst>
                </a:gridCol>
              </a:tblGrid>
              <a:tr h="58540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理想数据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 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30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50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70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100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8654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015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62072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巨大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24157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巨大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3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= 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巨大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巨大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786778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32661" y="3622090"/>
            <a:ext cx="655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一个理想的训练数据中， 不同</a:t>
            </a:r>
            <a:r>
              <a:rPr lang="en-US" altLang="zh-CN" dirty="0" smtClean="0"/>
              <a:t>s, v </a:t>
            </a:r>
            <a:r>
              <a:rPr lang="zh-CN" altLang="en-US" dirty="0" smtClean="0"/>
              <a:t>组合下</a:t>
            </a:r>
            <a:r>
              <a:rPr lang="en-US" altLang="zh-CN" dirty="0" smtClean="0"/>
              <a:t>a</a:t>
            </a:r>
            <a:r>
              <a:rPr lang="zh-CN" altLang="en-US" dirty="0" smtClean="0"/>
              <a:t>刹多少的</a:t>
            </a:r>
            <a:r>
              <a:rPr lang="en-US" altLang="zh-CN" dirty="0" smtClean="0"/>
              <a:t>GT</a:t>
            </a:r>
            <a:r>
              <a:rPr lang="zh-CN" altLang="en-US" dirty="0" smtClean="0"/>
              <a:t>数据如下</a:t>
            </a:r>
            <a:r>
              <a:rPr lang="en-US" altLang="zh-CN" dirty="0" smtClean="0"/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872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训练数据</a:t>
            </a:r>
            <a:r>
              <a:rPr lang="zh-CN" altLang="en-US" b="1" dirty="0" smtClean="0"/>
              <a:t>完整覆盖 </a:t>
            </a:r>
            <a:r>
              <a:rPr lang="en-US" altLang="zh-CN" b="1" dirty="0" smtClean="0"/>
              <a:t>v-s </a:t>
            </a:r>
            <a:r>
              <a:rPr lang="zh-CN" altLang="en-US" b="1" dirty="0" smtClean="0"/>
              <a:t>分布</a:t>
            </a:r>
            <a:r>
              <a:rPr lang="zh-CN" altLang="en-US" dirty="0" smtClean="0"/>
              <a:t>时， 实车可以有效的实现反馈控制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30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实际情况下， 人类驾车的数据会缺失左下三角的部分！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86590"/>
              </p:ext>
            </p:extLst>
          </p:nvPr>
        </p:nvGraphicFramePr>
        <p:xfrm>
          <a:off x="562992" y="2371598"/>
          <a:ext cx="812800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3892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2341879"/>
                    </a:ext>
                  </a:extLst>
                </a:gridCol>
                <a:gridCol w="1295481">
                  <a:extLst>
                    <a:ext uri="{9D8B030D-6E8A-4147-A177-3AD203B41FA5}">
                      <a16:colId xmlns:a16="http://schemas.microsoft.com/office/drawing/2014/main" val="84192529"/>
                    </a:ext>
                  </a:extLst>
                </a:gridCol>
                <a:gridCol w="1413853">
                  <a:extLst>
                    <a:ext uri="{9D8B030D-6E8A-4147-A177-3AD203B41FA5}">
                      <a16:colId xmlns:a16="http://schemas.microsoft.com/office/drawing/2014/main" val="2455330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23821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7911671"/>
                    </a:ext>
                  </a:extLst>
                </a:gridCol>
              </a:tblGrid>
              <a:tr h="58540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理想数据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 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30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50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70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100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8654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015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62072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巨大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24157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巨大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3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= 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巨大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巨大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78677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26014"/>
              </p:ext>
            </p:extLst>
          </p:nvPr>
        </p:nvGraphicFramePr>
        <p:xfrm>
          <a:off x="4063998" y="4214666"/>
          <a:ext cx="812800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3892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2341879"/>
                    </a:ext>
                  </a:extLst>
                </a:gridCol>
                <a:gridCol w="1295481">
                  <a:extLst>
                    <a:ext uri="{9D8B030D-6E8A-4147-A177-3AD203B41FA5}">
                      <a16:colId xmlns:a16="http://schemas.microsoft.com/office/drawing/2014/main" val="84192529"/>
                    </a:ext>
                  </a:extLst>
                </a:gridCol>
                <a:gridCol w="1413853">
                  <a:extLst>
                    <a:ext uri="{9D8B030D-6E8A-4147-A177-3AD203B41FA5}">
                      <a16:colId xmlns:a16="http://schemas.microsoft.com/office/drawing/2014/main" val="2455330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23821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7911671"/>
                    </a:ext>
                  </a:extLst>
                </a:gridCol>
              </a:tblGrid>
              <a:tr h="58540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实际数据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 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30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50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70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100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8654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015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62072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24157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3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= 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缺失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786778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5105" y="533672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由此造成漏制动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5105" y="6017632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起名字： 危险域数据稀疏问题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1336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大模型在特定</a:t>
            </a:r>
            <a:r>
              <a:rPr lang="en-US" altLang="zh-CN" dirty="0" smtClean="0"/>
              <a:t>v-s</a:t>
            </a:r>
            <a:r>
              <a:rPr lang="zh-CN" altLang="en-US" dirty="0" smtClean="0"/>
              <a:t>域少数据时会怎么输出？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751675"/>
              </p:ext>
            </p:extLst>
          </p:nvPr>
        </p:nvGraphicFramePr>
        <p:xfrm>
          <a:off x="2031999" y="2510153"/>
          <a:ext cx="812800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3892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2341879"/>
                    </a:ext>
                  </a:extLst>
                </a:gridCol>
                <a:gridCol w="1295481">
                  <a:extLst>
                    <a:ext uri="{9D8B030D-6E8A-4147-A177-3AD203B41FA5}">
                      <a16:colId xmlns:a16="http://schemas.microsoft.com/office/drawing/2014/main" val="84192529"/>
                    </a:ext>
                  </a:extLst>
                </a:gridCol>
                <a:gridCol w="1413853">
                  <a:extLst>
                    <a:ext uri="{9D8B030D-6E8A-4147-A177-3AD203B41FA5}">
                      <a16:colId xmlns:a16="http://schemas.microsoft.com/office/drawing/2014/main" val="2455330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23821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7911671"/>
                    </a:ext>
                  </a:extLst>
                </a:gridCol>
              </a:tblGrid>
              <a:tr h="58540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实际数据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 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30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50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70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100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8654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015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1.7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62072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3.5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24157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3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= 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3.1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3.1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3.1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3.1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786778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879541" y="1690688"/>
            <a:ext cx="529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会均值外延</a:t>
            </a:r>
            <a:r>
              <a:rPr lang="zh-CN" altLang="en-US" dirty="0"/>
              <a:t>！</a:t>
            </a:r>
            <a:r>
              <a:rPr lang="zh-CN" altLang="en-US" dirty="0" smtClean="0"/>
              <a:t>  而非具备深刻理解的 </a:t>
            </a:r>
            <a:r>
              <a:rPr lang="en-US" altLang="zh-CN" dirty="0" smtClean="0"/>
              <a:t>v^2/2a </a:t>
            </a:r>
            <a:r>
              <a:rPr lang="zh-CN" altLang="en-US" dirty="0" smtClean="0"/>
              <a:t>外延！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87413" y="5429166"/>
            <a:ext cx="3017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实车表现为： 越来越刹不住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638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如何利用实际数据补全：原始训练数据二倍速增广法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36847" y="2365900"/>
            <a:ext cx="905522" cy="435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ADV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4" idx="3"/>
          </p:cNvCxnSpPr>
          <p:nvPr/>
        </p:nvCxnSpPr>
        <p:spPr>
          <a:xfrm flipV="1">
            <a:off x="1642369" y="2583402"/>
            <a:ext cx="6303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205491" y="1589104"/>
            <a:ext cx="328474" cy="1988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墙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642369" y="2982898"/>
            <a:ext cx="0" cy="426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642369" y="3195962"/>
            <a:ext cx="456312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322644" y="2813768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剩余距离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71396" y="2092457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当前车速</a:t>
            </a:r>
            <a:r>
              <a:rPr lang="en-US" altLang="zh-CN" dirty="0"/>
              <a:t>v</a:t>
            </a:r>
            <a:endParaRPr lang="zh-CN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101248"/>
              </p:ext>
            </p:extLst>
          </p:nvPr>
        </p:nvGraphicFramePr>
        <p:xfrm>
          <a:off x="366379" y="4021585"/>
          <a:ext cx="8128002" cy="2468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963892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2341879"/>
                    </a:ext>
                  </a:extLst>
                </a:gridCol>
                <a:gridCol w="1295481">
                  <a:extLst>
                    <a:ext uri="{9D8B030D-6E8A-4147-A177-3AD203B41FA5}">
                      <a16:colId xmlns:a16="http://schemas.microsoft.com/office/drawing/2014/main" val="84192529"/>
                    </a:ext>
                  </a:extLst>
                </a:gridCol>
                <a:gridCol w="1413853">
                  <a:extLst>
                    <a:ext uri="{9D8B030D-6E8A-4147-A177-3AD203B41FA5}">
                      <a16:colId xmlns:a16="http://schemas.microsoft.com/office/drawing/2014/main" val="2455330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923821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77911671"/>
                    </a:ext>
                  </a:extLst>
                </a:gridCol>
              </a:tblGrid>
              <a:tr h="58540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实际数据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 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30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50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70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S = 100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78654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1.25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很小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015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v= 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5"/>
                          </a:solidFill>
                        </a:rPr>
                        <a:t>1.7</a:t>
                      </a:r>
                      <a:endParaRPr lang="zh-CN" alt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62072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7030A0"/>
                          </a:solidFill>
                        </a:rPr>
                        <a:t>2.3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6"/>
                          </a:solidFill>
                        </a:rPr>
                        <a:t>1.8</a:t>
                      </a:r>
                      <a:endParaRPr lang="zh-CN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224157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 = 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5"/>
                          </a:solidFill>
                        </a:rPr>
                        <a:t>7.8</a:t>
                      </a:r>
                      <a:endParaRPr lang="zh-CN" alt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308"/>
                  </a:ext>
                </a:extLst>
              </a:tr>
              <a:tr h="339163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= 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7030A0"/>
                          </a:solidFill>
                        </a:rPr>
                        <a:t>8+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6"/>
                          </a:solidFill>
                        </a:rPr>
                        <a:t>7.8</a:t>
                      </a:r>
                      <a:endParaRPr lang="zh-CN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786778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932358" y="1589104"/>
            <a:ext cx="357020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 v = 5</a:t>
            </a:r>
            <a:r>
              <a:rPr lang="zh-CN" altLang="en-US" dirty="0" smtClean="0"/>
              <a:t>， </a:t>
            </a:r>
            <a:r>
              <a:rPr lang="en-US" altLang="zh-CN" dirty="0" smtClean="0"/>
              <a:t>s  = 10 </a:t>
            </a:r>
            <a:r>
              <a:rPr lang="zh-CN" altLang="en-US" dirty="0" smtClean="0"/>
              <a:t>为例，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整个世界二倍速播放时：</a:t>
            </a:r>
            <a:endParaRPr lang="en-US" altLang="zh-CN" dirty="0" smtClean="0"/>
          </a:p>
          <a:p>
            <a:r>
              <a:rPr lang="en-US" altLang="zh-CN" dirty="0"/>
              <a:t>s</a:t>
            </a:r>
            <a:r>
              <a:rPr lang="en-US" altLang="zh-CN" dirty="0" smtClean="0"/>
              <a:t> </a:t>
            </a:r>
            <a:r>
              <a:rPr lang="zh-CN" altLang="en-US" dirty="0" smtClean="0"/>
              <a:t>不变</a:t>
            </a:r>
            <a:endParaRPr lang="en-US" altLang="zh-CN" dirty="0" smtClean="0"/>
          </a:p>
          <a:p>
            <a:r>
              <a:rPr lang="en-US" altLang="zh-CN" dirty="0" smtClean="0"/>
              <a:t>v </a:t>
            </a:r>
            <a:r>
              <a:rPr lang="zh-CN" altLang="en-US" dirty="0" smtClean="0"/>
              <a:t>翻倍</a:t>
            </a:r>
            <a:r>
              <a:rPr lang="en-US" altLang="zh-CN" dirty="0" smtClean="0"/>
              <a:t> </a:t>
            </a:r>
          </a:p>
          <a:p>
            <a:r>
              <a:rPr lang="en-US" altLang="zh-CN" dirty="0"/>
              <a:t>a</a:t>
            </a:r>
            <a:r>
              <a:rPr lang="en-US" altLang="zh-CN" dirty="0" smtClean="0"/>
              <a:t> </a:t>
            </a:r>
            <a:r>
              <a:rPr lang="zh-CN" altLang="en-US" dirty="0" smtClean="0"/>
              <a:t>翻四倍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二倍速理解：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走过同样的 </a:t>
            </a:r>
            <a:r>
              <a:rPr lang="en-US" altLang="zh-CN" dirty="0" err="1" smtClean="0"/>
              <a:t>delta_s</a:t>
            </a:r>
            <a:r>
              <a:rPr lang="en-US" altLang="zh-CN" dirty="0" smtClean="0"/>
              <a:t>, </a:t>
            </a:r>
            <a:r>
              <a:rPr lang="zh-CN" altLang="en-US" dirty="0" smtClean="0"/>
              <a:t>耗时减半， </a:t>
            </a:r>
            <a:endParaRPr lang="en-US" altLang="zh-CN" dirty="0" smtClean="0"/>
          </a:p>
          <a:p>
            <a:r>
              <a:rPr lang="zh-CN" altLang="en-US" dirty="0" smtClean="0"/>
              <a:t>因此 </a:t>
            </a:r>
            <a:r>
              <a:rPr lang="en-US" altLang="zh-CN" dirty="0" smtClean="0"/>
              <a:t>v</a:t>
            </a:r>
            <a:r>
              <a:rPr lang="zh-CN" altLang="en-US" dirty="0" smtClean="0"/>
              <a:t>是乘二的</a:t>
            </a:r>
            <a:r>
              <a:rPr lang="en-US" altLang="zh-CN" dirty="0" smtClean="0"/>
              <a:t>.</a:t>
            </a:r>
          </a:p>
          <a:p>
            <a:endParaRPr lang="en-US" altLang="zh-CN" dirty="0"/>
          </a:p>
          <a:p>
            <a:r>
              <a:rPr lang="zh-CN" altLang="en-US" dirty="0" smtClean="0"/>
              <a:t>走过同样的减速过程，耗时减半</a:t>
            </a:r>
            <a:r>
              <a:rPr lang="en-US" altLang="zh-CN" dirty="0" smtClean="0"/>
              <a:t>+</a:t>
            </a:r>
          </a:p>
          <a:p>
            <a:r>
              <a:rPr lang="zh-CN" altLang="en-US" dirty="0" smtClean="0"/>
              <a:t>减速量翻倍， </a:t>
            </a:r>
            <a:endParaRPr lang="en-US" altLang="zh-CN" dirty="0" smtClean="0"/>
          </a:p>
          <a:p>
            <a:r>
              <a:rPr lang="zh-CN" altLang="en-US" dirty="0" smtClean="0"/>
              <a:t>因此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是乘 </a:t>
            </a:r>
            <a:r>
              <a:rPr lang="en-US" altLang="zh-CN" dirty="0" smtClean="0"/>
              <a:t>2</a:t>
            </a:r>
            <a:r>
              <a:rPr lang="zh-CN" altLang="en-US" dirty="0" smtClean="0"/>
              <a:t>平方也就是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2272683" y="4909351"/>
            <a:ext cx="0" cy="3551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3728621" y="5264458"/>
            <a:ext cx="10357" cy="6835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937463" y="5592932"/>
            <a:ext cx="7399" cy="727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6369728" y="5584054"/>
            <a:ext cx="7399" cy="727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91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倍速方法的弊端：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倍数过大时， 倍速数据会不太真实：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譬如一个</a:t>
            </a:r>
            <a:r>
              <a:rPr lang="en-US" altLang="zh-CN" dirty="0" smtClean="0"/>
              <a:t>100m/s</a:t>
            </a:r>
            <a:r>
              <a:rPr lang="zh-CN" altLang="en-US" dirty="0" smtClean="0"/>
              <a:t>的车和</a:t>
            </a:r>
            <a:r>
              <a:rPr lang="en-US" altLang="zh-CN" dirty="0" smtClean="0"/>
              <a:t>20m/s</a:t>
            </a:r>
            <a:r>
              <a:rPr lang="zh-CN" altLang="en-US" dirty="0" smtClean="0"/>
              <a:t>的人类博弈交互的场景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15367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倍速增广法的可行性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倍数为 </a:t>
            </a:r>
            <a:r>
              <a:rPr lang="en-US" altLang="zh-CN" dirty="0" smtClean="0"/>
              <a:t>1.2 </a:t>
            </a:r>
            <a:r>
              <a:rPr lang="zh-CN" altLang="en-US" dirty="0" smtClean="0"/>
              <a:t>时， 效果还算真实， 此时</a:t>
            </a:r>
            <a:r>
              <a:rPr lang="en-US" altLang="zh-CN" dirty="0" smtClean="0"/>
              <a:t>:</a:t>
            </a:r>
          </a:p>
          <a:p>
            <a:pPr marL="457200" lvl="1" indent="0">
              <a:buNone/>
            </a:pPr>
            <a:r>
              <a:rPr lang="zh-CN" altLang="en-US" dirty="0" smtClean="0"/>
              <a:t>如果原始训练数据只覆盖了  </a:t>
            </a:r>
            <a:r>
              <a:rPr lang="en-US" altLang="zh-CN" dirty="0" smtClean="0"/>
              <a:t>|</a:t>
            </a:r>
            <a:r>
              <a:rPr lang="en-US" altLang="zh-CN" dirty="0" err="1" smtClean="0"/>
              <a:t>acc</a:t>
            </a:r>
            <a:r>
              <a:rPr lang="en-US" altLang="zh-CN" dirty="0" smtClean="0"/>
              <a:t> | &lt; 2 </a:t>
            </a:r>
            <a:r>
              <a:rPr lang="zh-CN" altLang="en-US" dirty="0" smtClean="0"/>
              <a:t>的数据， 你就能靠倍速法把</a:t>
            </a:r>
            <a:r>
              <a:rPr lang="en-US" altLang="zh-CN" dirty="0" err="1" smtClean="0"/>
              <a:t>acc</a:t>
            </a:r>
            <a:r>
              <a:rPr lang="zh-CN" altLang="en-US" dirty="0" smtClean="0"/>
              <a:t>覆盖度从 </a:t>
            </a:r>
            <a:r>
              <a:rPr lang="en-US" altLang="zh-CN" dirty="0" smtClean="0"/>
              <a:t>|</a:t>
            </a:r>
            <a:r>
              <a:rPr lang="en-US" altLang="zh-CN" dirty="0" err="1" smtClean="0"/>
              <a:t>acc</a:t>
            </a:r>
            <a:r>
              <a:rPr lang="en-US" altLang="zh-CN" dirty="0" smtClean="0"/>
              <a:t>| &lt; 2 </a:t>
            </a:r>
            <a:r>
              <a:rPr lang="zh-CN" altLang="en-US" dirty="0" smtClean="0"/>
              <a:t>增广为 </a:t>
            </a:r>
            <a:r>
              <a:rPr lang="en-US" altLang="zh-CN" dirty="0" smtClean="0"/>
              <a:t>|</a:t>
            </a:r>
            <a:r>
              <a:rPr lang="en-US" altLang="zh-CN" dirty="0" err="1" smtClean="0"/>
              <a:t>acc</a:t>
            </a:r>
            <a:r>
              <a:rPr lang="en-US" altLang="zh-CN" dirty="0" smtClean="0"/>
              <a:t>| &lt; 2 * 1.2^2 </a:t>
            </a:r>
            <a:r>
              <a:rPr lang="zh-CN" altLang="en-US" dirty="0" smtClean="0"/>
              <a:t>≈ </a:t>
            </a:r>
            <a:r>
              <a:rPr lang="en-US" altLang="zh-CN" dirty="0" smtClean="0"/>
              <a:t>3.</a:t>
            </a:r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建议针对跟车制动类场景进行倍速增广</a:t>
            </a:r>
            <a:r>
              <a:rPr lang="en-US" altLang="zh-CN" dirty="0" smtClean="0"/>
              <a:t>.</a:t>
            </a:r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7130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732</Words>
  <Application>Microsoft Office PowerPoint</Application>
  <PresentationFormat>宽屏</PresentationFormat>
  <Paragraphs>235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危险域数据缺失与倍速增广法</vt:lpstr>
      <vt:lpstr>1， 什么是反馈控制？</vt:lpstr>
      <vt:lpstr>2，模型制动行为取决于训练数据的行为</vt:lpstr>
      <vt:lpstr>训练数据完整覆盖 v-s 分布时， 实车可以有效的实现反馈控制</vt:lpstr>
      <vt:lpstr>大模型在特定v-s域少数据时会怎么输出？</vt:lpstr>
      <vt:lpstr>如何利用实际数据补全：原始训练数据二倍速增广法</vt:lpstr>
      <vt:lpstr>倍速方法的弊端：</vt:lpstr>
      <vt:lpstr>倍速增广法的可行性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滕怀远</dc:title>
  <dc:creator>cqca202432360</dc:creator>
  <cp:lastModifiedBy>cqca202432360</cp:lastModifiedBy>
  <cp:revision>12</cp:revision>
  <dcterms:created xsi:type="dcterms:W3CDTF">2026-06-05T03:48:03Z</dcterms:created>
  <dcterms:modified xsi:type="dcterms:W3CDTF">2026-06-05T04:26:14Z</dcterms:modified>
</cp:coreProperties>
</file>